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CPI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4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8514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Arithmetic-Heavy</c:v>
                  </c:pt>
                  <c:pt idx="1">
                    <c:v>Memory-Heavy</c:v>
                  </c:pt>
                  <c:pt idx="2">
                    <c:v>Control-Heavy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1.25</c:v>
                </c:pt>
                <c:pt idx="1">
                  <c:v>1.62</c:v>
                </c:pt>
                <c:pt idx="2">
                  <c:v>2.33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54864"/>
            <a:ext cx="4389120" cy="6803136"/>
          </a:xfrm>
          <a:prstGeom prst="rect">
            <a:avLst/>
          </a:prstGeom>
          <a:solidFill>
            <a:srgbClr val="0A0F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640080"/>
            <a:ext cx="73152" cy="7315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640080"/>
            <a:ext cx="73152" cy="73152"/>
          </a:xfrm>
          <a:prstGeom prst="ellipse">
            <a:avLst/>
          </a:prstGeom>
          <a:solidFill>
            <a:srgbClr val="00D4AA">
              <a:alpha val="95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0" y="640080"/>
            <a:ext cx="73152" cy="73152"/>
          </a:xfrm>
          <a:prstGeom prst="ellipse">
            <a:avLst/>
          </a:prstGeom>
          <a:solidFill>
            <a:srgbClr val="00D4AA">
              <a:alpha val="9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640080"/>
            <a:ext cx="73152" cy="73152"/>
          </a:xfrm>
          <a:prstGeom prst="ellipse">
            <a:avLst/>
          </a:prstGeom>
          <a:solidFill>
            <a:srgbClr val="00D4AA">
              <a:alpha val="85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0" y="640080"/>
            <a:ext cx="73152" cy="73152"/>
          </a:xfrm>
          <a:prstGeom prst="ellipse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1554480"/>
            <a:ext cx="73152" cy="73152"/>
          </a:xfrm>
          <a:prstGeom prst="ellipse">
            <a:avLst/>
          </a:prstGeom>
          <a:solidFill>
            <a:srgbClr val="00D4AA">
              <a:alpha val="88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0" y="1554480"/>
            <a:ext cx="73152" cy="73152"/>
          </a:xfrm>
          <a:prstGeom prst="ellipse">
            <a:avLst/>
          </a:prstGeom>
          <a:solidFill>
            <a:srgbClr val="00D4AA">
              <a:alpha val="83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09760" y="1554480"/>
            <a:ext cx="73152" cy="73152"/>
          </a:xfrm>
          <a:prstGeom prst="ellipse">
            <a:avLst/>
          </a:prstGeom>
          <a:solidFill>
            <a:srgbClr val="00D4AA">
              <a:alpha val="78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49840" y="1554480"/>
            <a:ext cx="73152" cy="73152"/>
          </a:xfrm>
          <a:prstGeom prst="ellipse">
            <a:avLst/>
          </a:prstGeom>
          <a:solidFill>
            <a:srgbClr val="00D4AA">
              <a:alpha val="73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89920" y="1554480"/>
            <a:ext cx="73152" cy="73152"/>
          </a:xfrm>
          <a:prstGeom prst="ellipse">
            <a:avLst/>
          </a:prstGeom>
          <a:solidFill>
            <a:srgbClr val="00D4AA">
              <a:alpha val="68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468880"/>
            <a:ext cx="73152" cy="73152"/>
          </a:xfrm>
          <a:prstGeom prst="ellipse">
            <a:avLst/>
          </a:prstGeom>
          <a:solidFill>
            <a:srgbClr val="00D4AA">
              <a:alpha val="76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0" y="2468880"/>
            <a:ext cx="73152" cy="73152"/>
          </a:xfrm>
          <a:prstGeom prst="ellipse">
            <a:avLst/>
          </a:prstGeom>
          <a:solidFill>
            <a:srgbClr val="00D4AA">
              <a:alpha val="71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0" y="2468880"/>
            <a:ext cx="73152" cy="73152"/>
          </a:xfrm>
          <a:prstGeom prst="ellipse">
            <a:avLst/>
          </a:prstGeom>
          <a:solidFill>
            <a:srgbClr val="00D4AA">
              <a:alpha val="66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49840" y="2468880"/>
            <a:ext cx="73152" cy="73152"/>
          </a:xfrm>
          <a:prstGeom prst="ellipse">
            <a:avLst/>
          </a:prstGeom>
          <a:solidFill>
            <a:srgbClr val="00D4AA">
              <a:alpha val="61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89920" y="2468880"/>
            <a:ext cx="73152" cy="73152"/>
          </a:xfrm>
          <a:prstGeom prst="ellipse">
            <a:avLst/>
          </a:prstGeom>
          <a:solidFill>
            <a:srgbClr val="00D4AA">
              <a:alpha val="56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383280"/>
            <a:ext cx="73152" cy="73152"/>
          </a:xfrm>
          <a:prstGeom prst="ellipse">
            <a:avLst/>
          </a:prstGeom>
          <a:solidFill>
            <a:srgbClr val="00D4AA">
              <a:alpha val="64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0" y="3383280"/>
            <a:ext cx="73152" cy="73152"/>
          </a:xfrm>
          <a:prstGeom prst="ellipse">
            <a:avLst/>
          </a:prstGeom>
          <a:solidFill>
            <a:srgbClr val="00D4AA">
              <a:alpha val="59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09760" y="3383280"/>
            <a:ext cx="73152" cy="73152"/>
          </a:xfrm>
          <a:prstGeom prst="ellipse">
            <a:avLst/>
          </a:prstGeom>
          <a:solidFill>
            <a:srgbClr val="00D4AA">
              <a:alpha val="54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49840" y="3383280"/>
            <a:ext cx="73152" cy="73152"/>
          </a:xfrm>
          <a:prstGeom prst="ellipse">
            <a:avLst/>
          </a:prstGeom>
          <a:solidFill>
            <a:srgbClr val="00D4AA">
              <a:alpha val="49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89920" y="3383280"/>
            <a:ext cx="73152" cy="73152"/>
          </a:xfrm>
          <a:prstGeom prst="ellipse">
            <a:avLst/>
          </a:prstGeom>
          <a:solidFill>
            <a:srgbClr val="00D4AA">
              <a:alpha val="44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4297680"/>
            <a:ext cx="73152" cy="73152"/>
          </a:xfrm>
          <a:prstGeom prst="ellipse">
            <a:avLst/>
          </a:prstGeom>
          <a:solidFill>
            <a:srgbClr val="00D4AA">
              <a:alpha val="52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9680" y="4297680"/>
            <a:ext cx="73152" cy="73152"/>
          </a:xfrm>
          <a:prstGeom prst="ellipse">
            <a:avLst/>
          </a:prstGeom>
          <a:solidFill>
            <a:srgbClr val="00D4AA">
              <a:alpha val="47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0" y="4297680"/>
            <a:ext cx="73152" cy="73152"/>
          </a:xfrm>
          <a:prstGeom prst="ellipse">
            <a:avLst/>
          </a:prstGeom>
          <a:solidFill>
            <a:srgbClr val="00D4AA">
              <a:alpha val="42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49840" y="4297680"/>
            <a:ext cx="73152" cy="73152"/>
          </a:xfrm>
          <a:prstGeom prst="ellipse">
            <a:avLst/>
          </a:prstGeom>
          <a:solidFill>
            <a:srgbClr val="00D4AA">
              <a:alpha val="37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9920" y="4297680"/>
            <a:ext cx="73152" cy="73152"/>
          </a:xfrm>
          <a:prstGeom prst="ellipse">
            <a:avLst/>
          </a:prstGeom>
          <a:solidFill>
            <a:srgbClr val="00D4AA">
              <a:alpha val="32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5212080"/>
            <a:ext cx="73152" cy="73152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69680" y="5212080"/>
            <a:ext cx="73152" cy="73152"/>
          </a:xfrm>
          <a:prstGeom prst="ellipse">
            <a:avLst/>
          </a:prstGeom>
          <a:solidFill>
            <a:srgbClr val="00D4AA">
              <a:alpha val="35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0" y="521208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49840" y="5212080"/>
            <a:ext cx="73152" cy="73152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789920" y="5212080"/>
            <a:ext cx="73152" cy="73152"/>
          </a:xfrm>
          <a:prstGeom prst="ellipse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5303520"/>
            <a:ext cx="64008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0" y="53035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686800" y="5486400"/>
            <a:ext cx="137160" cy="73152"/>
          </a:xfrm>
          <a:prstGeom prst="rect">
            <a:avLst/>
          </a:prstGeom>
          <a:solidFill>
            <a:srgbClr val="8B949E">
              <a:alpha val="70000"/>
            </a:srgbClr>
          </a:solidFill>
          <a:ln w="12700">
            <a:solidFill>
              <a:srgbClr val="8B949E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23960" y="5303520"/>
            <a:ext cx="640080" cy="502920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23960" y="53035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464040" y="5486400"/>
            <a:ext cx="137160" cy="73152"/>
          </a:xfrm>
          <a:prstGeom prst="rect">
            <a:avLst/>
          </a:prstGeom>
          <a:solidFill>
            <a:srgbClr val="8B949E">
              <a:alpha val="70000"/>
            </a:srgbClr>
          </a:solidFill>
          <a:ln w="12700">
            <a:solidFill>
              <a:srgbClr val="8B949E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01200" y="5303520"/>
            <a:ext cx="640080" cy="502920"/>
          </a:xfrm>
          <a:prstGeom prst="rect">
            <a:avLst/>
          </a:prstGeom>
          <a:solidFill>
            <a:srgbClr val="0096E6"/>
          </a:solidFill>
          <a:ln w="12700">
            <a:solidFill>
              <a:srgbClr val="0096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01200" y="53035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241280" y="5486400"/>
            <a:ext cx="137160" cy="73152"/>
          </a:xfrm>
          <a:prstGeom prst="rect">
            <a:avLst/>
          </a:prstGeom>
          <a:solidFill>
            <a:srgbClr val="8B949E">
              <a:alpha val="70000"/>
            </a:srgbClr>
          </a:solidFill>
          <a:ln w="12700">
            <a:solidFill>
              <a:srgbClr val="8B949E">
                <a:alpha val="7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78440" y="5303520"/>
            <a:ext cx="6400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378440" y="53035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1018520" y="5486400"/>
            <a:ext cx="137160" cy="73152"/>
          </a:xfrm>
          <a:prstGeom prst="rect">
            <a:avLst/>
          </a:prstGeom>
          <a:solidFill>
            <a:srgbClr val="8B949E">
              <a:alpha val="70000"/>
            </a:srgbClr>
          </a:solidFill>
          <a:ln w="12700">
            <a:solidFill>
              <a:srgbClr val="8B949E">
                <a:alpha val="7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155680" y="5303520"/>
            <a:ext cx="6400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155680" y="53035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863840" y="5943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RISC-V PIPELINE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10972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PERFORMANCE EVALUATION</a:t>
            </a:r>
            <a:endParaRPr lang="en-US" sz="3600" dirty="0"/>
          </a:p>
        </p:txBody>
      </p:sp>
      <p:sp>
        <p:nvSpPr>
          <p:cNvPr id="51" name="Text 49"/>
          <p:cNvSpPr/>
          <p:nvPr/>
        </p:nvSpPr>
        <p:spPr>
          <a:xfrm>
            <a:off x="457200" y="16916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100" kern="0" dirty="0">
                <a:solidFill>
                  <a:srgbClr val="00D4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CPI FOR DIFFERENT</a:t>
            </a:r>
            <a:endParaRPr lang="en-US" sz="3600" dirty="0"/>
          </a:p>
        </p:txBody>
      </p:sp>
      <p:sp>
        <p:nvSpPr>
          <p:cNvPr id="52" name="Text 50"/>
          <p:cNvSpPr/>
          <p:nvPr/>
        </p:nvSpPr>
        <p:spPr>
          <a:xfrm>
            <a:off x="457200" y="228600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INSTRUCTION MIXES</a:t>
            </a:r>
            <a:endParaRPr lang="en-US" sz="3600" dirty="0"/>
          </a:p>
        </p:txBody>
      </p:sp>
      <p:sp>
        <p:nvSpPr>
          <p:cNvPr id="53" name="Text 51"/>
          <p:cNvSpPr/>
          <p:nvPr/>
        </p:nvSpPr>
        <p:spPr>
          <a:xfrm>
            <a:off x="457200" y="288036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100" kern="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A RISC PROCESSOR</a:t>
            </a:r>
            <a:endParaRPr lang="en-US" sz="2200" dirty="0"/>
          </a:p>
        </p:txBody>
      </p:sp>
      <p:sp>
        <p:nvSpPr>
          <p:cNvPr id="54" name="Shape 52"/>
          <p:cNvSpPr/>
          <p:nvPr/>
        </p:nvSpPr>
        <p:spPr>
          <a:xfrm>
            <a:off x="457200" y="3611880"/>
            <a:ext cx="109728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7947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College of Engineering, Kuttippuram  |  Dept. of AI &amp; Data Science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" y="40690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Report  |  B.Tech AI &amp; DS  |  2025–2026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46634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Sherik K. K., Assistant Professor, Dept. of AI &amp; DS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26187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 Team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MES24AD — Batch 2024  |  Dept. of Artificial Intelligence and Data Science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36576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83080"/>
            <a:ext cx="45720" cy="1188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84248"/>
            <a:ext cx="411480" cy="41148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9476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 MINSHA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331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No: MES24AD019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1783080"/>
            <a:ext cx="36576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1783080"/>
            <a:ext cx="4572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984248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9476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 FATHIMA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331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No: MES24AD014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1783080"/>
            <a:ext cx="36576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1783080"/>
            <a:ext cx="4572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1984248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0" y="19476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 HAFNA SHERIN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0" y="2331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No: MES24AD018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291840"/>
            <a:ext cx="36576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291840"/>
            <a:ext cx="45720" cy="11887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493008"/>
            <a:ext cx="411480" cy="41148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493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4564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FATHIMATH NAJA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38404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No: MES24AD023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3291840"/>
            <a:ext cx="36576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06240" y="3291840"/>
            <a:ext cx="45720" cy="1188720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43400" y="3493008"/>
            <a:ext cx="411480" cy="41148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3400" y="3493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34564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HASNA TK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46320" y="38404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No: MES24AD025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138160" y="3291840"/>
            <a:ext cx="36576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138160" y="3291840"/>
            <a:ext cx="45720" cy="1188720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75320" y="3493008"/>
            <a:ext cx="411480" cy="411480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75320" y="3493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778240" y="34564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RIDHIN MUHAMMED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778240" y="38404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No: MES24AD039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67335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 in this presentation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53035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91640"/>
            <a:ext cx="45720" cy="1097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116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1856232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2402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CPI, pipelining, instruction mix concepts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1691640"/>
            <a:ext cx="53035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691640"/>
            <a:ext cx="4572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0116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1856232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78040" y="22402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RISC-V pipeline design &amp; hazard types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53035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63240"/>
            <a:ext cx="4572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832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" y="3227832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Methodology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36118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design &amp; simulation setup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0" y="3063240"/>
            <a:ext cx="53035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3063240"/>
            <a:ext cx="45720" cy="10972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3832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78040" y="3227832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Descriptions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78040" y="36118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Memory &amp; Control-heavy programs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434840"/>
            <a:ext cx="53035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434840"/>
            <a:ext cx="45720" cy="1097280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7548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143000" y="4599432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43000" y="49834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CPI, IPC &amp; cycle data from Ripes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4434840"/>
            <a:ext cx="53035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4434840"/>
            <a:ext cx="45720" cy="1097280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47548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178040" y="4599432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Conclusion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178040" y="49834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comparison, key findings &amp; summary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26187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CPI and Why Does It Matter?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Per Instruction — the core metric of processor performance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544068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37360"/>
            <a:ext cx="45720" cy="1554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024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Pipelining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instructions execute simultaneously across IF, ID, EX, MEM, WB stages. Ideal CPI = 1.0 (one instruction per cycle).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44068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737360"/>
            <a:ext cx="4572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92024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— Cycles Per Instruction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33172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clock cycles to execute one instruction. Calculated as: CPI = Total Cycles ÷ Instructions Retired.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544068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57600"/>
            <a:ext cx="45720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4048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Mix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25196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arithmetic, memory, and control instructions varies by program. Each type interacts differently with the pipeline.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657600"/>
            <a:ext cx="544068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3657600"/>
            <a:ext cx="45720" cy="15544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84048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25196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arithmetic-heavy, memory-heavy, and control-heavy programs differ in CPI on a 5-stage RISC-V pipeline using Ripes simulator.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34416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5-Stage Pipeline Architecture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processor stages and their functions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1828800"/>
            <a:ext cx="292608" cy="274320"/>
          </a:xfrm>
          <a:prstGeom prst="rect">
            <a:avLst/>
          </a:prstGeom>
          <a:solidFill>
            <a:srgbClr val="8B949E">
              <a:alpha val="50000"/>
            </a:srgbClr>
          </a:solidFill>
          <a:ln w="12700">
            <a:solidFill>
              <a:srgbClr val="8B949E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737360"/>
            <a:ext cx="201168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37360"/>
            <a:ext cx="2011680" cy="411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37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" y="2240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Fetch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743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next instruction from memory using Program Counter (PC).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90288" y="1828800"/>
            <a:ext cx="292608" cy="274320"/>
          </a:xfrm>
          <a:prstGeom prst="rect">
            <a:avLst/>
          </a:prstGeom>
          <a:solidFill>
            <a:srgbClr val="8B949E">
              <a:alpha val="50000"/>
            </a:srgbClr>
          </a:solidFill>
          <a:ln w="12700">
            <a:solidFill>
              <a:srgbClr val="8B949E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78608" y="1737360"/>
            <a:ext cx="201168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8A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78608" y="1737360"/>
            <a:ext cx="2011680" cy="411480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0048" y="1737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24328" y="2240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Decode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70048" y="2743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instruction, reads register values from register file.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94576" y="1828800"/>
            <a:ext cx="292608" cy="274320"/>
          </a:xfrm>
          <a:prstGeom prst="rect">
            <a:avLst/>
          </a:prstGeom>
          <a:solidFill>
            <a:srgbClr val="8B949E">
              <a:alpha val="50000"/>
            </a:srgbClr>
          </a:solidFill>
          <a:ln w="12700">
            <a:solidFill>
              <a:srgbClr val="8B949E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82896" y="1737360"/>
            <a:ext cx="201168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0096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82896" y="1737360"/>
            <a:ext cx="2011680" cy="411480"/>
          </a:xfrm>
          <a:prstGeom prst="rect">
            <a:avLst/>
          </a:prstGeom>
          <a:solidFill>
            <a:srgbClr val="0096E6"/>
          </a:solidFill>
          <a:ln w="12700">
            <a:solidFill>
              <a:srgbClr val="0096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74336" y="1737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28616" y="2240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74336" y="2743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ALU operations or computes memory addresses. Branch conditions evaluated here.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98864" y="1828800"/>
            <a:ext cx="292608" cy="274320"/>
          </a:xfrm>
          <a:prstGeom prst="rect">
            <a:avLst/>
          </a:prstGeom>
          <a:solidFill>
            <a:srgbClr val="8B949E">
              <a:alpha val="50000"/>
            </a:srgbClr>
          </a:solidFill>
          <a:ln w="12700">
            <a:solidFill>
              <a:srgbClr val="8B949E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87184" y="1737360"/>
            <a:ext cx="201168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87184" y="1737360"/>
            <a:ext cx="20116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78624" y="1737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32904" y="2240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Access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78624" y="2743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from or writes to data memory. Active only for LW and SW instructions.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491472" y="1737360"/>
            <a:ext cx="201168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491472" y="1737360"/>
            <a:ext cx="20116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82912" y="1737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37192" y="2240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Back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582912" y="2743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computed results back to destination register, completing the instruction.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297680"/>
            <a:ext cx="1133856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4407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CONFIGURATION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7365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49560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Ripes — RISC-V Visual Simulator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83280" y="47365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83280" y="49560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Pipeline (RV32IMC)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17920" y="47365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Handling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17920" y="49560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Forwarding + Pipeline Stalls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052560" y="47365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Model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052560" y="49560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Architecture (separate I/D memory)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591056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HAZARDS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Instruction Mix vs. CPI Effect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instruction type impacts pipeline efficiency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3657600" cy="4297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91640"/>
            <a:ext cx="3657600" cy="4572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(ALU)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IMPACT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253288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 EX stage using registers only. No memory access.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474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 TYPE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372160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Forwarding handles RAW hazards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663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CPI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491032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≈ 1.0–1.25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691640"/>
            <a:ext cx="3657600" cy="4297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1691640"/>
            <a:ext cx="36576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(Load/Store)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4840" y="22860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IMPACT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34840" y="253288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MEM stage. Load-use hazards force pipeline stalls.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3474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 TYPE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34840" y="372160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Load-use stall: 1 cycle per dependent load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34840" y="4663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CPI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34840" y="491032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≈ 1.5–1.62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1691640"/>
            <a:ext cx="3657600" cy="4297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0" y="1691640"/>
            <a:ext cx="3657600" cy="4572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(Branch/Jump)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66760" y="22860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IMPACT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66760" y="253288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resolved in EX stage. Wrong-path instructions flushed.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66760" y="3474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 TYPE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366760" y="372160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flush: 1–2 cycles per taken branch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66760" y="4663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CPI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366760" y="491032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≈ 2.0–2.33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208483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1 — ARITHMETIC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Arithmetic-Heavy Instruction Mix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instructions  |  ADD, SUB, MUL, DIV, ADDI — no memory, no branches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5852160" cy="4206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37360"/>
            <a:ext cx="5760720" cy="4114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0" y="17830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92240" y="2212848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20840" y="21488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Register-to-register operations only: ADDI, ADD, SUB, MUL, DIV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92240" y="2715768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26517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memory access — zero LW/SW instructions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92240" y="3218688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20840" y="31546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branch or jump — completely sequential control flow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92240" y="3721608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20840" y="36576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forwarding resolves most RAW hazards without stalls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92240" y="4224528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20840" y="41605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instructions executed in 20 clock cycles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92240" y="48463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BEHAVIOR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492240" y="5166360"/>
            <a:ext cx="53492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629400" y="5230368"/>
            <a:ext cx="5074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pipeline stalls, efficient ALU utilization, and the lowest CPI among all three programs. Pipeline fills quickly and remains nearly full throughout execution.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837944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1 — 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Arithmetic-Heavy: Simulation Output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 — Ripes 5-Stage Processor Simulation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7680960" cy="4206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37360"/>
            <a:ext cx="758952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21040" y="1737360"/>
            <a:ext cx="35661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321040" y="1737360"/>
            <a:ext cx="45720" cy="9601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58200" y="1828800"/>
            <a:ext cx="33832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458200" y="2313432"/>
            <a:ext cx="33832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Clock Cycles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321040" y="2788920"/>
            <a:ext cx="35661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321040" y="2788920"/>
            <a:ext cx="45720" cy="960120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58200" y="2880360"/>
            <a:ext cx="33832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458200" y="3364992"/>
            <a:ext cx="33832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Retired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21040" y="3840480"/>
            <a:ext cx="35661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21040" y="3840480"/>
            <a:ext cx="4572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58200" y="3931920"/>
            <a:ext cx="33832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458200" y="4416552"/>
            <a:ext cx="33832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(Cycles Per Instruction)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321040" y="4892040"/>
            <a:ext cx="35661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321040" y="4892040"/>
            <a:ext cx="45720" cy="960120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58200" y="4983480"/>
            <a:ext cx="33832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8458200" y="5468112"/>
            <a:ext cx="33832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(Instructions Per Cycle)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75564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2 — MEMORY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Memory-Heavy Instruction Mix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instructions  |  LUI, LW, ADD, SW — array load-accumulate-store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5852160" cy="4206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37360"/>
            <a:ext cx="5760720" cy="4114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0" y="17830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92240" y="221284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20840" y="21488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.data section: array .word 5, 10, 15, 20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92240" y="271576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26517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address loaded using LUI + ADDI (hardware setup)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92240" y="321868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20840" y="31546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LW instructions each followed by dependent ADD — load-use hazards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92240" y="372160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20840" y="36576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SW instruction stores final sum to memory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92240" y="42245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20840" y="41605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instructions in 21 cycles — load-use stalls add extra cycles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92240" y="48463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LOAD-USE HAZARD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492240" y="5166360"/>
            <a:ext cx="53492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629400" y="5230368"/>
            <a:ext cx="5074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LW → ADD pair forces a 1-cycle stall because loaded data isn't available until end of MEM stage, but forwarding can only go back to EX. Final x3 = 0x32 = 50 (5+10+15+20 ✔).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837944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2 — 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Memory-Heavy: Simulation Output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 — Ripes 5-Stage Processor Simulation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7680960" cy="4206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37360"/>
            <a:ext cx="758952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21040" y="1737360"/>
            <a:ext cx="35661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321040" y="1737360"/>
            <a:ext cx="4572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58200" y="1828800"/>
            <a:ext cx="33832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458200" y="2313432"/>
            <a:ext cx="33832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Clock Cycles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321040" y="2788920"/>
            <a:ext cx="35661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321040" y="2788920"/>
            <a:ext cx="4572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58200" y="2880360"/>
            <a:ext cx="33832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458200" y="3364992"/>
            <a:ext cx="33832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Retired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21040" y="3840480"/>
            <a:ext cx="35661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21040" y="3840480"/>
            <a:ext cx="4572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58200" y="3931920"/>
            <a:ext cx="33832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1.62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458200" y="4416552"/>
            <a:ext cx="33832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(Cycles Per Instruction)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321040" y="4892040"/>
            <a:ext cx="35661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321040" y="4892040"/>
            <a:ext cx="45720" cy="960120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58200" y="4983480"/>
            <a:ext cx="33832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0.619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8458200" y="5468112"/>
            <a:ext cx="33832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(Instructions Per Cycle)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837944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3 — CONTROL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Control-Heavy Instruction Mix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instructions  |  BEQ, BNE, BLT, BGE — maximum control hazards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5852160" cy="4206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37360"/>
            <a:ext cx="5760720" cy="4114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0" y="17830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92240" y="2212848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20840" y="21488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different branch types: BEQ, BNE, BLT, BGE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92240" y="2715768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26517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labels: L1, L2, L3, L4 define branch targets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92240" y="3218688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20840" y="31546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taken branch flushes 1–2 incorrectly fetched instructions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92240" y="3721608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20840" y="36576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hazards dominate pipeline — branches = 44% of instruction stream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92240" y="4224528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20840" y="41605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 instructions but 21 clock cycles — severe CPI degradation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92240" y="48463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BEHAVIOR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492240" y="5166360"/>
            <a:ext cx="53492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629400" y="5230368"/>
            <a:ext cx="5074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CPI due to frequent pipeline flushes. Each taken branch discards partially-fetched instructions, causing repeated pipeline restart overhead.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837944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3 — 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Control-Heavy: Simulation Output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 — Ripes 5-Stage Processor Simulation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7680960" cy="4206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37360"/>
            <a:ext cx="758952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21040" y="1737360"/>
            <a:ext cx="35661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321040" y="1737360"/>
            <a:ext cx="45720" cy="9601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58200" y="1828800"/>
            <a:ext cx="33832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458200" y="2313432"/>
            <a:ext cx="33832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Clock Cycles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321040" y="2788920"/>
            <a:ext cx="35661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321040" y="2788920"/>
            <a:ext cx="45720" cy="9601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58200" y="2880360"/>
            <a:ext cx="33832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458200" y="3364992"/>
            <a:ext cx="33832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Retired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21040" y="3840480"/>
            <a:ext cx="35661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21040" y="3840480"/>
            <a:ext cx="4572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58200" y="3931920"/>
            <a:ext cx="33832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2.33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458200" y="4416552"/>
            <a:ext cx="33832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(Cycles Per Instruction)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321040" y="4892040"/>
            <a:ext cx="35661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321040" y="4892040"/>
            <a:ext cx="45720" cy="960120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58200" y="4983480"/>
            <a:ext cx="33832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0.429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8458200" y="5468112"/>
            <a:ext cx="33832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(Instructions Per Cycle)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92024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CPI Comparison Across All Programs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recorded directly from Ripes Execution Info panel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114300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28800"/>
            <a:ext cx="54864" cy="12344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219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19933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0" y="22219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51960" y="19933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251960" y="22219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60720" y="19933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760720" y="22219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69480" y="19933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269480" y="22219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78240" y="19933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778240" y="22219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287000" y="19933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287000" y="22219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x16 = 0x9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" y="3246120"/>
            <a:ext cx="114300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246120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393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0" y="34107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743200" y="36393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251960" y="34107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251960" y="36393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760720" y="34107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760720" y="36393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269480" y="34107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269480" y="36393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0.619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778240" y="34107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778240" y="36393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287000" y="34107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287000" y="36393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 = 0x32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65760" y="4663440"/>
            <a:ext cx="114300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4663440"/>
            <a:ext cx="54864" cy="12344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50566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743200" y="48280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743200" y="50566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251960" y="48280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251960" y="50566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760720" y="48280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760720" y="50566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2.33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269480" y="48280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269480" y="50566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0.429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778240" y="48280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778240" y="50566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0287000" y="48280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REG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0287000" y="50566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 = 0x1</a:t>
            </a:r>
            <a:endParaRPr lang="en-US" sz="1500" dirty="0"/>
          </a:p>
        </p:txBody>
      </p:sp>
      <p:graphicFrame>
        <p:nvGraphicFramePr>
          <p:cNvPr id="52" name="Chart 0" descr=""/>
          <p:cNvGraphicFramePr/>
          <p:nvPr/>
        </p:nvGraphicFramePr>
        <p:xfrm>
          <a:off x="365760" y="6172200"/>
          <a:ext cx="114300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3" name="Text 50"/>
          <p:cNvSpPr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50876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Analysis &amp; Discussion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instruction mix performs differently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COMPARISON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Arithmetic  CPI = 1.25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450592"/>
            <a:ext cx="731520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450592"/>
            <a:ext cx="3928262" cy="34747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077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efficiency — data forwarding resolves most RAW hazards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      CPI = 1.62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731520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822192"/>
            <a:ext cx="50840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2793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efficiency — 4 load-use stalls from LW→ADD patterns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      CPI = 2.33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5193792"/>
            <a:ext cx="731520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5193792"/>
            <a:ext cx="7315200" cy="34747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56509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efficiency — branch flushes dominate (44% branch mix)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5528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TYPE SUMMARY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55280" y="2103120"/>
            <a:ext cx="39319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55280" y="2103120"/>
            <a:ext cx="45720" cy="1143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21945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92440" y="251460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Hazard: RAW (data)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92440" y="276148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Handling: Forwarding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92440" y="298094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Impact: Low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55280" y="3474720"/>
            <a:ext cx="39319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55280" y="3474720"/>
            <a:ext cx="45720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92440" y="35661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92440" y="388620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Hazard: Load-Use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92440" y="413308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Handling: 1-cycle stall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92440" y="435254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Impact: Medium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955280" y="4846320"/>
            <a:ext cx="39319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955280" y="4846320"/>
            <a:ext cx="45720" cy="11430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2440" y="49377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92440" y="525780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Hazard: Branch flush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92440" y="550468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Handling: Pipeline flush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92440" y="572414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Impact: High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6236208"/>
            <a:ext cx="114300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8640" y="62910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Arithmetic CPI (1.25) &lt; Memory CPI (1.62) &lt; Control CPI (2.33) — Control-heavy programs are 86.4% slower than Arithmetic in terms of CPI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09728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247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611880" cy="4937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361188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228600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= 1.25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51760" y="1417320"/>
            <a:ext cx="132588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efficiency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Arithmetic-Heavy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33375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forwarding resolves most RAW hazards. Near-ideal pipeline efficiency. Best-case CPI scenario.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611880" cy="4937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417320"/>
            <a:ext cx="36118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417320"/>
            <a:ext cx="228600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= 1.62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0" y="1417320"/>
            <a:ext cx="132588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efficiency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20116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Memory-Heavy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2423160"/>
            <a:ext cx="33375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Load-use hazards cause 30% CPI increase. Each LW→ADD pair costs one extra stall cycle unavoidable by forwarding.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0" y="1417320"/>
            <a:ext cx="3611880" cy="4937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0" y="1417320"/>
            <a:ext cx="3611880" cy="5029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1417320"/>
            <a:ext cx="228600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= 2.33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515600" y="1417320"/>
            <a:ext cx="132588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efficiency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66760" y="20116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Control-Heavy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66760" y="2423160"/>
            <a:ext cx="33375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flushes cause 86% CPI increase over arithmetic. Frequent pipeline restarts are the dominant bottleneck.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A0F14"/>
          </a:solidFill>
          <a:ln w="12700">
            <a:solidFill>
              <a:srgbClr val="0A0F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6647688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College of Engineering, Kuttippuram  |  Dept. of AI &amp; DS  |  Mini Project 2025–2026  |  Guide: Sherik K. K.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4114800" cy="6748272"/>
          </a:xfrm>
          <a:prstGeom prst="rect">
            <a:avLst/>
          </a:prstGeom>
          <a:solidFill>
            <a:srgbClr val="0A0F14"/>
          </a:solidFill>
          <a:ln w="12700">
            <a:solidFill>
              <a:srgbClr val="0A0F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2560320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45920" y="1783080"/>
            <a:ext cx="365760" cy="320040"/>
          </a:xfrm>
          <a:prstGeom prst="rect">
            <a:avLst/>
          </a:prstGeom>
          <a:solidFill>
            <a:srgbClr val="8B949E">
              <a:alpha val="40000"/>
            </a:srgbClr>
          </a:solidFill>
          <a:ln w="12700">
            <a:solidFill>
              <a:srgbClr val="8B949E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03120"/>
            <a:ext cx="2560320" cy="685800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645920" y="2788920"/>
            <a:ext cx="365760" cy="320040"/>
          </a:xfrm>
          <a:prstGeom prst="rect">
            <a:avLst/>
          </a:prstGeom>
          <a:solidFill>
            <a:srgbClr val="8B949E">
              <a:alpha val="40000"/>
            </a:srgbClr>
          </a:solidFill>
          <a:ln w="12700">
            <a:solidFill>
              <a:srgbClr val="8B949E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108960"/>
            <a:ext cx="2560320" cy="685800"/>
          </a:xfrm>
          <a:prstGeom prst="rect">
            <a:avLst/>
          </a:prstGeom>
          <a:solidFill>
            <a:srgbClr val="0096E6"/>
          </a:solidFill>
          <a:ln w="12700">
            <a:solidFill>
              <a:srgbClr val="009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089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645920" y="3794760"/>
            <a:ext cx="365760" cy="320040"/>
          </a:xfrm>
          <a:prstGeom prst="rect">
            <a:avLst/>
          </a:prstGeom>
          <a:solidFill>
            <a:srgbClr val="8B949E">
              <a:alpha val="40000"/>
            </a:srgbClr>
          </a:solidFill>
          <a:ln w="12700">
            <a:solidFill>
              <a:srgbClr val="8B949E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114800"/>
            <a:ext cx="256032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14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645920" y="4800600"/>
            <a:ext cx="365760" cy="320040"/>
          </a:xfrm>
          <a:prstGeom prst="rect">
            <a:avLst/>
          </a:prstGeom>
          <a:solidFill>
            <a:srgbClr val="8B949E">
              <a:alpha val="40000"/>
            </a:srgbClr>
          </a:solidFill>
          <a:ln w="12700">
            <a:solidFill>
              <a:srgbClr val="8B949E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120640"/>
            <a:ext cx="256032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120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0" y="1188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4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4572000" y="21031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400" kern="0" dirty="0">
                <a:solidFill>
                  <a:srgbClr val="00D4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</a:t>
            </a:r>
            <a:endParaRPr lang="en-US" sz="7200" dirty="0"/>
          </a:p>
        </p:txBody>
      </p:sp>
      <p:sp>
        <p:nvSpPr>
          <p:cNvPr id="21" name="Shape 19"/>
          <p:cNvSpPr/>
          <p:nvPr/>
        </p:nvSpPr>
        <p:spPr>
          <a:xfrm>
            <a:off x="4572000" y="3246120"/>
            <a:ext cx="22860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429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your attention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0" y="4069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College of Engineering, Kuttippuram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 and Data Science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— B.Tech AI &amp; DS  |  2025–2026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5029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Sherik K. K., Assistant Professor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0" y="5623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0" y="59253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 Minsha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0880" y="59253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 Fathima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509760" y="59253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 Hafna Sherin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6217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Fathimath Naja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6217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Hasna TK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509760" y="6217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Ridhin Muhammed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-274320" y="274320"/>
            <a:ext cx="64008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0" b="1" dirty="0">
                <a:solidFill>
                  <a:srgbClr val="00D4AA">
                    <a:alpha val="1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</a:t>
            </a:r>
            <a:endParaRPr lang="en-US" sz="42000" dirty="0"/>
          </a:p>
        </p:txBody>
      </p:sp>
      <p:sp>
        <p:nvSpPr>
          <p:cNvPr id="5" name="Text 3"/>
          <p:cNvSpPr/>
          <p:nvPr/>
        </p:nvSpPr>
        <p:spPr>
          <a:xfrm>
            <a:off x="5303520" y="274320"/>
            <a:ext cx="6858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0" b="1" dirty="0">
                <a:solidFill>
                  <a:srgbClr val="7C3AED">
                    <a:alpha val="1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</a:t>
            </a:r>
            <a:endParaRPr lang="en-US" sz="420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4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 &amp;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1371600" y="274320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400" kern="0" dirty="0">
                <a:solidFill>
                  <a:srgbClr val="00D4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ANSWERS</a:t>
            </a:r>
            <a:endParaRPr lang="en-US" sz="6400" dirty="0"/>
          </a:p>
        </p:txBody>
      </p:sp>
      <p:sp>
        <p:nvSpPr>
          <p:cNvPr id="8" name="Shape 6"/>
          <p:cNvSpPr/>
          <p:nvPr/>
        </p:nvSpPr>
        <p:spPr>
          <a:xfrm>
            <a:off x="4937760" y="4023360"/>
            <a:ext cx="2286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42519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welcome your questions!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612648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College of Engineering, Kuttippuram  |  Dept. of AI &amp; DS  |  2025–2026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2026-03-31T06:00:45Z</dcterms:created>
  <dcterms:modified xsi:type="dcterms:W3CDTF">2026-03-31T06:00:45Z</dcterms:modified>
</cp:coreProperties>
</file>